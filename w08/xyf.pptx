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12"/>
  </p:notesMasterIdLst>
  <p:sldIdLst>
    <p:sldId id="465" r:id="rId3"/>
    <p:sldId id="467" r:id="rId4"/>
    <p:sldId id="468" r:id="rId5"/>
    <p:sldId id="466" r:id="rId6"/>
    <p:sldId id="469" r:id="rId7"/>
    <p:sldId id="471" r:id="rId8"/>
    <p:sldId id="470" r:id="rId9"/>
    <p:sldId id="472" r:id="rId10"/>
    <p:sldId id="32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99E77-C863-4F81-A9AC-4946470277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6ACF4-918C-4AEF-BA51-812F7074A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94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629C50-E8D2-44C1-A6BB-3798535718E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 userDrawn="1"/>
        </p:nvSpPr>
        <p:spPr>
          <a:xfrm rot="10800000" flipH="1">
            <a:off x="-3" y="-2"/>
            <a:ext cx="4563538" cy="2514602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8" name="任意多边形 7"/>
          <p:cNvSpPr/>
          <p:nvPr userDrawn="1"/>
        </p:nvSpPr>
        <p:spPr>
          <a:xfrm rot="5400000">
            <a:off x="3805768" y="-3805763"/>
            <a:ext cx="1168396" cy="877993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1697568" y="-1697564"/>
            <a:ext cx="1168399" cy="4563535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127283" y="-1127283"/>
            <a:ext cx="827303" cy="308187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239095" y="76203"/>
            <a:ext cx="3666413" cy="1775426"/>
            <a:chOff x="9196760" y="0"/>
            <a:chExt cx="3666413" cy="1775426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2065" y="307923"/>
              <a:ext cx="3001108" cy="146750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9196760" y="0"/>
              <a:ext cx="299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上海交通大学工程训练中心</a:t>
              </a:r>
              <a:endParaRPr lang="en-US" altLang="zh-CN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0533" y="660321"/>
              <a:ext cx="762708" cy="762708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 userDrawn="1"/>
        </p:nvGrpSpPr>
        <p:grpSpPr>
          <a:xfrm rot="10800000">
            <a:off x="8779935" y="4741014"/>
            <a:ext cx="3412065" cy="2116984"/>
            <a:chOff x="2810930" y="2822526"/>
            <a:chExt cx="8779937" cy="2526726"/>
          </a:xfrm>
        </p:grpSpPr>
        <p:sp>
          <p:nvSpPr>
            <p:cNvPr id="58" name="任意多边形 57"/>
            <p:cNvSpPr/>
            <p:nvPr userDrawn="1"/>
          </p:nvSpPr>
          <p:spPr>
            <a:xfrm rot="10800000" flipH="1">
              <a:off x="2810930" y="2834650"/>
              <a:ext cx="4563537" cy="2514602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E89E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 userDrawn="1"/>
          </p:nvSpPr>
          <p:spPr>
            <a:xfrm rot="5400000">
              <a:off x="6616701" y="-983237"/>
              <a:ext cx="1168396" cy="8779937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157DA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 userDrawn="1"/>
          </p:nvSpPr>
          <p:spPr>
            <a:xfrm rot="5400000">
              <a:off x="4508501" y="1124962"/>
              <a:ext cx="1168399" cy="4563535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 userDrawn="1"/>
          </p:nvSpPr>
          <p:spPr>
            <a:xfrm rot="5400000">
              <a:off x="3938216" y="1695243"/>
              <a:ext cx="827303" cy="3081870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945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1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2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78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326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综合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5" name="矩形 4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直角三角形 7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6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4472C4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讲</a:t>
            </a:r>
          </a:p>
        </p:txBody>
      </p:sp>
      <p:sp>
        <p:nvSpPr>
          <p:cNvPr id="15" name="直角三角形 14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47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rgbClr val="E89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4" name="直角三角形 13"/>
          <p:cNvSpPr/>
          <p:nvPr userDrawn="1"/>
        </p:nvSpPr>
        <p:spPr>
          <a:xfrm>
            <a:off x="0" y="6477000"/>
            <a:ext cx="12107336" cy="381000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E89E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4664" y="3977"/>
            <a:ext cx="12107336" cy="3453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47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prstClr val="white">
                    <a:lumMod val="50000"/>
                  </a:prst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练</a:t>
            </a:r>
          </a:p>
        </p:txBody>
      </p:sp>
      <p:sp>
        <p:nvSpPr>
          <p:cNvPr id="12" name="直角三角形 11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671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57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371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 rot="5400000">
            <a:off x="4050259" y="-4050255"/>
            <a:ext cx="1802935" cy="990345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9" name="任意多边形 8"/>
          <p:cNvSpPr/>
          <p:nvPr userDrawn="1"/>
        </p:nvSpPr>
        <p:spPr>
          <a:xfrm flipH="1">
            <a:off x="10111813" y="1412240"/>
            <a:ext cx="2080184" cy="544576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2385073" y="-2385070"/>
            <a:ext cx="1061693" cy="583184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483399" y="-1483401"/>
            <a:ext cx="660321" cy="362712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2" name="任意多边形 11"/>
          <p:cNvSpPr/>
          <p:nvPr userDrawn="1"/>
        </p:nvSpPr>
        <p:spPr>
          <a:xfrm flipH="1">
            <a:off x="10993120" y="3719437"/>
            <a:ext cx="1198876" cy="3138563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273790" y="-94255"/>
            <a:ext cx="2995243" cy="1264792"/>
            <a:chOff x="8303568" y="2694"/>
            <a:chExt cx="3888434" cy="164195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156" y="221822"/>
              <a:ext cx="2909748" cy="142282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8303571" y="2694"/>
              <a:ext cx="3888431" cy="606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sz="3200" dirty="0">
                <a:solidFill>
                  <a:srgbClr val="0070C0"/>
                </a:solidFill>
                <a:latin typeface="+mj-lt"/>
                <a:ea typeface="华文新魏" panose="0201080004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03568" y="274888"/>
              <a:ext cx="3888431" cy="979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0070C0"/>
                  </a:solidFill>
                  <a:ea typeface="华文新魏" panose="02010800040101010101" pitchFamily="2" charset="-122"/>
                </a:rPr>
                <a:t>VI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R </a:t>
              </a:r>
              <a:r>
                <a:rPr lang="en-US" altLang="zh-CN" sz="3200" dirty="0">
                  <a:ea typeface="华文新魏" panose="02010800040101010101" pitchFamily="2" charset="-122"/>
                </a:rPr>
                <a:t>      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tics</a:t>
              </a:r>
            </a:p>
          </p:txBody>
        </p:sp>
      </p:grpSp>
      <p:sp>
        <p:nvSpPr>
          <p:cNvPr id="16" name="任意多边形 15"/>
          <p:cNvSpPr/>
          <p:nvPr userDrawn="1"/>
        </p:nvSpPr>
        <p:spPr>
          <a:xfrm rot="5400000" flipH="1">
            <a:off x="140597" y="5298178"/>
            <a:ext cx="1419223" cy="170041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7" name="任意多边形 16"/>
          <p:cNvSpPr/>
          <p:nvPr userDrawn="1"/>
        </p:nvSpPr>
        <p:spPr>
          <a:xfrm rot="5400000" flipH="1">
            <a:off x="86469" y="5898692"/>
            <a:ext cx="872838" cy="104577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  <p:extLst>
      <p:ext uri="{BB962C8B-B14F-4D97-AF65-F5344CB8AC3E}">
        <p14:creationId xmlns:p14="http://schemas.microsoft.com/office/powerpoint/2010/main" val="4072051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1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2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39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  <p:extLst>
      <p:ext uri="{BB962C8B-B14F-4D97-AF65-F5344CB8AC3E}">
        <p14:creationId xmlns:p14="http://schemas.microsoft.com/office/powerpoint/2010/main" val="148901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年快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151"/>
            <a:ext cx="2395959" cy="1564128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D6162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5" name="任意多边形 14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2C71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1064" y="748598"/>
            <a:ext cx="1221533" cy="450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5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pic>
        <p:nvPicPr>
          <p:cNvPr id="11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456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255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77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28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117725" y="2665730"/>
            <a:ext cx="7816850" cy="11068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大模型与机器人整合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16F8DC8-5C64-CF54-E7C1-CC83904346B3}"/>
              </a:ext>
            </a:extLst>
          </p:cNvPr>
          <p:cNvSpPr/>
          <p:nvPr/>
        </p:nvSpPr>
        <p:spPr>
          <a:xfrm>
            <a:off x="558800" y="2571750"/>
            <a:ext cx="2730500" cy="1943100"/>
          </a:xfrm>
          <a:prstGeom prst="homePlate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箭头: V 形 2">
            <a:extLst>
              <a:ext uri="{FF2B5EF4-FFF2-40B4-BE49-F238E27FC236}">
                <a16:creationId xmlns:a16="http://schemas.microsoft.com/office/drawing/2014/main" id="{6E95A141-8674-7ABA-CDB4-8DE50A66A507}"/>
              </a:ext>
            </a:extLst>
          </p:cNvPr>
          <p:cNvSpPr/>
          <p:nvPr/>
        </p:nvSpPr>
        <p:spPr>
          <a:xfrm>
            <a:off x="2514602" y="2578100"/>
            <a:ext cx="2908298" cy="1943100"/>
          </a:xfrm>
          <a:prstGeom prst="chevron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箭头: V 形 3">
            <a:extLst>
              <a:ext uri="{FF2B5EF4-FFF2-40B4-BE49-F238E27FC236}">
                <a16:creationId xmlns:a16="http://schemas.microsoft.com/office/drawing/2014/main" id="{06C736F6-5647-ADB0-5DD4-3F4FC6A0FF78}"/>
              </a:ext>
            </a:extLst>
          </p:cNvPr>
          <p:cNvSpPr/>
          <p:nvPr/>
        </p:nvSpPr>
        <p:spPr>
          <a:xfrm>
            <a:off x="4648204" y="2584450"/>
            <a:ext cx="2908298" cy="1943100"/>
          </a:xfrm>
          <a:prstGeom prst="chevron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BF6B1719-D489-73D6-2AC9-4CCFBC5149F1}"/>
              </a:ext>
            </a:extLst>
          </p:cNvPr>
          <p:cNvSpPr/>
          <p:nvPr/>
        </p:nvSpPr>
        <p:spPr>
          <a:xfrm>
            <a:off x="6781806" y="2590800"/>
            <a:ext cx="2908298" cy="1943100"/>
          </a:xfrm>
          <a:prstGeom prst="chevron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9FEA836A-05EE-697C-D9E1-55D38F2BE408}"/>
              </a:ext>
            </a:extLst>
          </p:cNvPr>
          <p:cNvSpPr/>
          <p:nvPr/>
        </p:nvSpPr>
        <p:spPr>
          <a:xfrm>
            <a:off x="8915406" y="2597150"/>
            <a:ext cx="2908298" cy="1943100"/>
          </a:xfrm>
          <a:prstGeom prst="chevron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EBC97-BFEA-E8AD-DCCC-5CDB70CD9A21}"/>
              </a:ext>
            </a:extLst>
          </p:cNvPr>
          <p:cNvSpPr txBox="1"/>
          <p:nvPr/>
        </p:nvSpPr>
        <p:spPr>
          <a:xfrm>
            <a:off x="965202" y="3081635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语音输入，通过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传入电脑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4BAE6C-207C-8BE8-C50B-594D1D826362}"/>
              </a:ext>
            </a:extLst>
          </p:cNvPr>
          <p:cNvSpPr txBox="1"/>
          <p:nvPr/>
        </p:nvSpPr>
        <p:spPr>
          <a:xfrm>
            <a:off x="3536952" y="3107035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funasr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来实现语音转文本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F88E16-1FDD-3F2B-4738-A176D28D01D8}"/>
              </a:ext>
            </a:extLst>
          </p:cNvPr>
          <p:cNvSpPr txBox="1"/>
          <p:nvPr/>
        </p:nvSpPr>
        <p:spPr>
          <a:xfrm>
            <a:off x="5778500" y="3107035"/>
            <a:ext cx="1263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通过大模型来处理对话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1A06AB-CAA5-8271-2C2D-C486AF2FAAF8}"/>
              </a:ext>
            </a:extLst>
          </p:cNvPr>
          <p:cNvSpPr txBox="1"/>
          <p:nvPr/>
        </p:nvSpPr>
        <p:spPr>
          <a:xfrm>
            <a:off x="7861300" y="3107035"/>
            <a:ext cx="1314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kokoro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来实现文本转语音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7A78BA-4D81-DD04-A601-A39E030D47F6}"/>
              </a:ext>
            </a:extLst>
          </p:cNvPr>
          <p:cNvSpPr txBox="1"/>
          <p:nvPr/>
        </p:nvSpPr>
        <p:spPr>
          <a:xfrm>
            <a:off x="9918708" y="3081635"/>
            <a:ext cx="1390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机器人输出语音（响应动作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D6455E-4663-00A3-DE6B-340B0E6153CC}"/>
              </a:ext>
            </a:extLst>
          </p:cNvPr>
          <p:cNvSpPr txBox="1"/>
          <p:nvPr/>
        </p:nvSpPr>
        <p:spPr>
          <a:xfrm>
            <a:off x="419100" y="240010"/>
            <a:ext cx="2730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基本流程</a:t>
            </a:r>
          </a:p>
        </p:txBody>
      </p:sp>
    </p:spTree>
    <p:extLst>
      <p:ext uri="{BB962C8B-B14F-4D97-AF65-F5344CB8AC3E}">
        <p14:creationId xmlns:p14="http://schemas.microsoft.com/office/powerpoint/2010/main" val="37496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0DEFDF2-0150-DDCF-FE81-16BDAEFF981E}"/>
              </a:ext>
            </a:extLst>
          </p:cNvPr>
          <p:cNvSpPr txBox="1"/>
          <p:nvPr/>
        </p:nvSpPr>
        <p:spPr>
          <a:xfrm>
            <a:off x="495300" y="406400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语音输入</a:t>
            </a:r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6E96829-3626-DB01-2A81-3AFF30C70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861" y="868065"/>
            <a:ext cx="7678621" cy="53975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ADFFEF9-33B1-E7A9-8568-D3786ED034F2}"/>
              </a:ext>
            </a:extLst>
          </p:cNvPr>
          <p:cNvSpPr txBox="1"/>
          <p:nvPr/>
        </p:nvSpPr>
        <p:spPr>
          <a:xfrm>
            <a:off x="495300" y="1092200"/>
            <a:ext cx="252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funasr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来实现语音转文本，输入给大模型</a:t>
            </a:r>
          </a:p>
        </p:txBody>
      </p:sp>
    </p:spTree>
    <p:extLst>
      <p:ext uri="{BB962C8B-B14F-4D97-AF65-F5344CB8AC3E}">
        <p14:creationId xmlns:p14="http://schemas.microsoft.com/office/powerpoint/2010/main" val="408106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0D3BF90-A831-5F8F-7C8F-E8F0D55E57E9}"/>
              </a:ext>
            </a:extLst>
          </p:cNvPr>
          <p:cNvSpPr txBox="1"/>
          <p:nvPr/>
        </p:nvSpPr>
        <p:spPr>
          <a:xfrm>
            <a:off x="529310" y="1249325"/>
            <a:ext cx="2510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通过接入大模型，来实现问答环节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（接入的为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deepseek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D588079-1527-1070-25BF-BB7226C66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0" y="1249325"/>
            <a:ext cx="6248400" cy="435934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20853-5090-F41E-00F8-2234FF87A3B3}"/>
              </a:ext>
            </a:extLst>
          </p:cNvPr>
          <p:cNvSpPr txBox="1"/>
          <p:nvPr/>
        </p:nvSpPr>
        <p:spPr>
          <a:xfrm>
            <a:off x="406400" y="330200"/>
            <a:ext cx="227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MCP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</a:t>
            </a:r>
          </a:p>
        </p:txBody>
      </p:sp>
    </p:spTree>
    <p:extLst>
      <p:ext uri="{BB962C8B-B14F-4D97-AF65-F5344CB8AC3E}">
        <p14:creationId xmlns:p14="http://schemas.microsoft.com/office/powerpoint/2010/main" val="115459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2775C82E-5D4B-AC36-F18C-0CCEDE6CD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613" y="789068"/>
            <a:ext cx="7318187" cy="52798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6D395F8-0A71-5DD5-39BB-356C796D22BC}"/>
              </a:ext>
            </a:extLst>
          </p:cNvPr>
          <p:cNvSpPr txBox="1"/>
          <p:nvPr/>
        </p:nvSpPr>
        <p:spPr>
          <a:xfrm>
            <a:off x="317500" y="266700"/>
            <a:ext cx="193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Kokoro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2933A6-B6B9-82CA-F6AA-CECC29BA26CF}"/>
              </a:ext>
            </a:extLst>
          </p:cNvPr>
          <p:cNvSpPr txBox="1"/>
          <p:nvPr/>
        </p:nvSpPr>
        <p:spPr>
          <a:xfrm>
            <a:off x="317500" y="1016000"/>
            <a:ext cx="255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kokoro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来将文本转换为语音</a:t>
            </a:r>
          </a:p>
        </p:txBody>
      </p:sp>
    </p:spTree>
    <p:extLst>
      <p:ext uri="{BB962C8B-B14F-4D97-AF65-F5344CB8AC3E}">
        <p14:creationId xmlns:p14="http://schemas.microsoft.com/office/powerpoint/2010/main" val="2431504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9AE27351-EFDA-DC9F-121B-0E7FAEBDA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015" y="825500"/>
            <a:ext cx="7102321" cy="4927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B072CCD-7FAB-2E47-5240-51A28A6B32BC}"/>
              </a:ext>
            </a:extLst>
          </p:cNvPr>
          <p:cNvSpPr txBox="1"/>
          <p:nvPr/>
        </p:nvSpPr>
        <p:spPr>
          <a:xfrm>
            <a:off x="552450" y="594667"/>
            <a:ext cx="208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F75DA4-5C61-E9BC-46C9-D81C1A3837EF}"/>
              </a:ext>
            </a:extLst>
          </p:cNvPr>
          <p:cNvSpPr txBox="1"/>
          <p:nvPr/>
        </p:nvSpPr>
        <p:spPr>
          <a:xfrm>
            <a:off x="552450" y="1219200"/>
            <a:ext cx="17145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最后启用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服务将所得命令发送给机器人，并由相应的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接收并执行</a:t>
            </a:r>
          </a:p>
        </p:txBody>
      </p:sp>
    </p:spTree>
    <p:extLst>
      <p:ext uri="{BB962C8B-B14F-4D97-AF65-F5344CB8AC3E}">
        <p14:creationId xmlns:p14="http://schemas.microsoft.com/office/powerpoint/2010/main" val="218953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3abd9f3cc46a6a076a188942a9bd105">
            <a:hlinkClick r:id="" action="ppaction://media"/>
            <a:extLst>
              <a:ext uri="{FF2B5EF4-FFF2-40B4-BE49-F238E27FC236}">
                <a16:creationId xmlns:a16="http://schemas.microsoft.com/office/drawing/2014/main" id="{52753E5A-1606-9080-4C39-1058267D40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37611" y="605543"/>
            <a:ext cx="3176389" cy="564691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B403FAE-CB79-108B-9DD5-B48F6ACDA96D}"/>
              </a:ext>
            </a:extLst>
          </p:cNvPr>
          <p:cNvSpPr txBox="1"/>
          <p:nvPr/>
        </p:nvSpPr>
        <p:spPr>
          <a:xfrm>
            <a:off x="317500" y="355600"/>
            <a:ext cx="134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B36D5E-793B-9979-7E61-99C3DFBC9806}"/>
              </a:ext>
            </a:extLst>
          </p:cNvPr>
          <p:cNvSpPr txBox="1"/>
          <p:nvPr/>
        </p:nvSpPr>
        <p:spPr>
          <a:xfrm>
            <a:off x="609600" y="1231900"/>
            <a:ext cx="298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机器人可根据指令执行任务</a:t>
            </a:r>
          </a:p>
        </p:txBody>
      </p:sp>
    </p:spTree>
    <p:extLst>
      <p:ext uri="{BB962C8B-B14F-4D97-AF65-F5344CB8AC3E}">
        <p14:creationId xmlns:p14="http://schemas.microsoft.com/office/powerpoint/2010/main" val="211297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882D14-8502-2A2E-B0E2-562952C21516}"/>
              </a:ext>
            </a:extLst>
          </p:cNvPr>
          <p:cNvSpPr txBox="1"/>
          <p:nvPr/>
        </p:nvSpPr>
        <p:spPr>
          <a:xfrm>
            <a:off x="495300" y="393700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未来展望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B1A492-A0FE-77A8-47AD-76ED56D12CB8}"/>
              </a:ext>
            </a:extLst>
          </p:cNvPr>
          <p:cNvSpPr txBox="1"/>
          <p:nvPr/>
        </p:nvSpPr>
        <p:spPr>
          <a:xfrm>
            <a:off x="673100" y="13970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期望通过和</a:t>
            </a:r>
            <a:r>
              <a:rPr lang="en-US" altLang="zh-CN" dirty="0"/>
              <a:t>YOLO</a:t>
            </a:r>
            <a:r>
              <a:rPr lang="zh-CN" altLang="en-US" dirty="0"/>
              <a:t>等视觉模型结合，来更高效地执行特定任务，如搬运、抓取。或结合</a:t>
            </a:r>
            <a:r>
              <a:rPr lang="en-US" altLang="zh-CN" dirty="0"/>
              <a:t>VLA</a:t>
            </a:r>
            <a:r>
              <a:rPr lang="zh-CN" altLang="en-US" dirty="0"/>
              <a:t>模型来进行任务</a:t>
            </a:r>
          </a:p>
        </p:txBody>
      </p:sp>
      <p:pic>
        <p:nvPicPr>
          <p:cNvPr id="5" name="图片 4" descr="桌子上放着粉色的玩偶&#10;&#10;AI 生成的内容可能不正确。">
            <a:extLst>
              <a:ext uri="{FF2B5EF4-FFF2-40B4-BE49-F238E27FC236}">
                <a16:creationId xmlns:a16="http://schemas.microsoft.com/office/drawing/2014/main" id="{48EDD880-D969-B6A4-C983-7DB40E4DB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855" y="624532"/>
            <a:ext cx="3980445" cy="53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5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27F77B-BAAF-C862-DE9A-EDE11597B731}"/>
              </a:ext>
            </a:extLst>
          </p:cNvPr>
          <p:cNvSpPr txBox="1"/>
          <p:nvPr/>
        </p:nvSpPr>
        <p:spPr>
          <a:xfrm>
            <a:off x="5160936" y="2386739"/>
            <a:ext cx="46029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410"/>
  <p:tag name="MH_LIBRARY" val="CONTENTS"/>
  <p:tag name="MH_TYPE" val="OTHERS"/>
  <p:tag name="ID" val="54713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410"/>
  <p:tag name="MH_LIBRARY" val="CONTENTS"/>
  <p:tag name="MH_TYPE" val="OTHERS"/>
  <p:tag name="ID" val="54713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410"/>
  <p:tag name="MH_LIBRARY" val="CONTENTS"/>
  <p:tag name="MH_TYPE" val="OTHERS"/>
  <p:tag name="ID" val="54713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410"/>
  <p:tag name="MH_LIBRARY" val="CONTENTS"/>
  <p:tag name="MH_TYPE" val="OTHERS"/>
  <p:tag name="ID" val="547132"/>
</p:tagLst>
</file>

<file path=ppt/theme/theme1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4472C4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tailEnd type="none"/>
        </a:ln>
      </a:spPr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142</Words>
  <Application>Microsoft Office PowerPoint</Application>
  <PresentationFormat>宽屏</PresentationFormat>
  <Paragraphs>21</Paragraphs>
  <Slides>9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等线</vt:lpstr>
      <vt:lpstr>黑体</vt:lpstr>
      <vt:lpstr>华文新魏</vt:lpstr>
      <vt:lpstr>华文行楷</vt:lpstr>
      <vt:lpstr>宋体</vt:lpstr>
      <vt:lpstr>微软雅黑</vt:lpstr>
      <vt:lpstr>Arial</vt:lpstr>
      <vt:lpstr>Calibri</vt:lpstr>
      <vt:lpstr>2_Office 主题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yifei xie</dc:creator>
  <cp:lastModifiedBy>yifei xie</cp:lastModifiedBy>
  <cp:revision>2</cp:revision>
  <dcterms:created xsi:type="dcterms:W3CDTF">2025-12-22T09:16:17Z</dcterms:created>
  <dcterms:modified xsi:type="dcterms:W3CDTF">2025-12-22T13:40:04Z</dcterms:modified>
</cp:coreProperties>
</file>